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비용 (USD)</c:v>
                </c:pt>
              </c:strCache>
            </c:strRef>
          </c:tx>
          <c:spPr>
            <a:solidFill>
              <a:srgbClr val="ff8000"/>
            </a:solidFill>
            <a:ln w="9525">
              <a:solidFill>
                <a:srgbClr val="ff8000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가치매핑</c:v>
                </c:pt>
                <c:pt idx="1">
                  <c:v>질문생성</c:v>
                </c:pt>
                <c:pt idx="2">
                  <c:v>모순탐지</c:v>
                </c:pt>
                <c:pt idx="3">
                  <c:v>추출</c:v>
                </c:pt>
                <c:pt idx="4">
                  <c:v>generate_followups</c:v>
                </c:pt>
                <c:pt idx="5">
                  <c:v>OCR</c:v>
                </c:pt>
                <c:pt idx="6">
                  <c:v>analyze_answer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0.3418</c:v>
                </c:pt>
                <c:pt idx="1">
                  <c:v>0.3229</c:v>
                </c:pt>
                <c:pt idx="2">
                  <c:v>0.183</c:v>
                </c:pt>
                <c:pt idx="3">
                  <c:v>0.1806</c:v>
                </c:pt>
                <c:pt idx="4">
                  <c:v>0.1256</c:v>
                </c:pt>
                <c:pt idx="5">
                  <c:v>0.1127</c:v>
                </c:pt>
                <c:pt idx="6">
                  <c:v>0.0621</c:v>
                </c:pt>
              </c:numCache>
            </c:numRef>
          </c:val>
        </c:ser>
        <c:dLbls>
          <c:delete val="0"/>
          <c:numFmt formatCode="&quot;$&quot;0.000" sourceLinked="0"/>
          <c:txPr>
            <a:bodyPr rot="0" vert="horz" wrap="none" lIns="0" tIns="0" rIns="0" bIns="0" anchor="ctr" anchorCtr="1"/>
            <a:p>
              <a:pPr algn="l">
                <a:defRPr sz="900" b="0" i="0" u="none">
                  <a:latin typeface="맑은 고딕"/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68027336"/>
        <c:axId val="2113994440"/>
      </c:barChart>
      <c:catAx>
        <c:axId val="2068027336"/>
        <c:scaling>
          <c:orientation val="minMax"/>
        </c:scaling>
        <c:axPos val="l"/>
        <c:crossAx val="2113994440"/>
        <c:delete val="0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374151"/>
                </a:solidFill>
                <a:latin typeface="맑은 고딕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</c:scaling>
        <c:axPos val="b"/>
        <c:crossAx val="2068027336"/>
        <c:delete val="0"/>
        <c:majorGridlines/>
        <c:numFmt formatCode="General" sourceLinked="1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374151"/>
                </a:solidFill>
                <a:latin typeface="맑은 고딕"/>
              </a:defRPr>
            </a:pPr>
            <a:endParaRPr/>
          </a:p>
        </c:txPr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800" b="0" i="0" u="none"/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hyperlink" Target="https://youtu.be/npxinUQz4ZM" TargetMode="External"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502152" cy="6858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5120640"/>
            <a:ext cx="82296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5120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InterX 합류를 위한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772400" cy="11887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111827"/>
                </a:solidFill>
                <a:latin typeface="맑은 고딕"/>
              </a:rPr>
              <a:t>과제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8000"/>
                </a:solidFill>
                <a:latin typeface="맑은 고딕"/>
              </a:rPr>
              <a:t>"단순 구현보다 0.1%의 효율을 중시하는 AI Engineer"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7315200" cy="29565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300" b="0">
                <a:solidFill>
                  <a:srgbClr val="6b7280"/>
                </a:solidFill>
                <a:latin typeface="맑은 고딕"/>
              </a:rPr>
              <a:t>주재홍   ·   2026.04.2</a:t>
            </a:r>
            <a:r>
              <a:rPr lang="en-US" altLang="ko-KR" sz="1300" b="0">
                <a:solidFill>
                  <a:srgbClr val="6b7280"/>
                </a:solidFill>
                <a:latin typeface="맑은 고딕"/>
              </a:rPr>
              <a:t>4</a:t>
            </a:r>
            <a:endParaRPr lang="en-US" altLang="ko-KR" sz="1300" b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kinduki123@gmail.com   ·   github.com/flyingjoojak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저는 이런 엔지니어입니다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10년+ 개발 경험과 컴퓨터공학 전공의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11827"/>
                </a:solidFill>
                <a:latin typeface="맑은 고딕"/>
              </a:rPr>
              <a:t>"돌아가는 AI"가 아니라 "효율로 증명되는 AI"를 만듭니다.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974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365760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8000"/>
                </a:solidFill>
                <a:latin typeface="맑은 고딕"/>
              </a:rPr>
              <a:t>리소스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ONNX · 양자화 · 캐싱으로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하드웨어와 API 비용을 함께 절감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212080"/>
            <a:ext cx="3108960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RapidOCR 70%↓  ·  SDXL 90%↓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6974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697480"/>
            <a:ext cx="3657600" cy="7315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0175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고신뢰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65760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Hybrid Search + Reranking 으로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토큰을 절약하며 정확도를 상승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5212080"/>
            <a:ext cx="3108960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521208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관련성 +45%  ·  토큰 −30%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6974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2697480"/>
            <a:ext cx="3657600" cy="7315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엔드-투-엔드 책임감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65760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기획·모델·서빙·프론트·운영까지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맑은 고딕"/>
              </a:rPr>
              <a:t>직접 만들어 본 5개 프로젝트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5212080"/>
            <a:ext cx="3108960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521208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비전 · LLM · 풀스택 ·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커리어 하이라이트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엔드-투-엔드로 만든 5개 프로젝트 — 정량 지표로 증명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691" y="1783080"/>
            <a:ext cx="22402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691" y="1783080"/>
            <a:ext cx="224028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571" y="1965960"/>
            <a:ext cx="18745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571" y="2286000"/>
            <a:ext cx="1874520" cy="8229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AI 광고 생성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571" y="3154680"/>
            <a:ext cx="187452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소상공인 마케팅 자동화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로컬 추론으로 비용 0원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" y="4114800"/>
            <a:ext cx="1874519" cy="44615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lang="en-US" altLang="ko-KR" sz="2200" b="1">
                <a:solidFill>
                  <a:srgbClr val="ff8000"/>
                </a:solidFill>
                <a:latin typeface="맑은 고딕"/>
              </a:rPr>
              <a:t>70</a:t>
            </a:r>
            <a:r>
              <a:rPr sz="2200" b="1">
                <a:solidFill>
                  <a:srgbClr val="ff8000"/>
                </a:solidFill>
                <a:latin typeface="맑은 고딕"/>
              </a:rPr>
              <a:t>%↓ / 0원</a:t>
            </a:r>
            <a:endParaRPr sz="2200" b="1">
              <a:solidFill>
                <a:srgbClr val="ff8000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8571" y="4846320"/>
            <a:ext cx="18745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571" y="4944999"/>
            <a:ext cx="1874519" cy="24460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lang="en-US" altLang="ko-KR" sz="1000" b="1">
                <a:solidFill>
                  <a:srgbClr val="111827"/>
                </a:solidFill>
                <a:latin typeface="맑은 고딕"/>
              </a:rPr>
              <a:t>21</a:t>
            </a:r>
            <a:r>
              <a:rPr sz="1000" b="1">
                <a:solidFill>
                  <a:srgbClr val="111827"/>
                </a:solidFill>
                <a:latin typeface="맑은 고딕"/>
              </a:rPr>
              <a:t>0s → 30s · API 비용 0원</a:t>
            </a:r>
            <a:endParaRPr sz="1000" b="1">
              <a:solidFill>
                <a:srgbClr val="111827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571" y="5440680"/>
            <a:ext cx="18745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SDXL · Diffusers · FastAPI · FP16/INT8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5699" y="1783080"/>
            <a:ext cx="22402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5699" y="1783080"/>
            <a:ext cx="224028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8579" y="1965960"/>
            <a:ext cx="18745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8579" y="2286000"/>
            <a:ext cx="1874520" cy="8229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RFP RAG 분석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579" y="3154680"/>
            <a:ext cx="187452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입찰 제안서 자동 분석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근거 인용으로 환각 억제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7139" y="4114800"/>
            <a:ext cx="2057400" cy="44615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sz="2200" b="1">
                <a:solidFill>
                  <a:srgbClr val="ff8000"/>
                </a:solidFill>
                <a:latin typeface="맑은 고딕"/>
              </a:rPr>
              <a:t>+45%</a:t>
            </a:r>
            <a:r>
              <a:rPr lang="ko-KR" altLang="en-US" sz="2200" b="1">
                <a:solidFill>
                  <a:srgbClr val="ff8000"/>
                </a:solidFill>
                <a:latin typeface="맑은 고딕"/>
              </a:rPr>
              <a:t> </a:t>
            </a:r>
            <a:r>
              <a:rPr sz="2200" b="1">
                <a:solidFill>
                  <a:srgbClr val="ff8000"/>
                </a:solidFill>
                <a:latin typeface="맑은 고딕"/>
              </a:rPr>
              <a:t>/</a:t>
            </a:r>
            <a:r>
              <a:rPr lang="ko-KR" altLang="en-US" sz="2200" b="1">
                <a:solidFill>
                  <a:srgbClr val="ff8000"/>
                </a:solidFill>
                <a:latin typeface="맑은 고딕"/>
              </a:rPr>
              <a:t> </a:t>
            </a:r>
            <a:r>
              <a:rPr sz="2200" b="1">
                <a:solidFill>
                  <a:srgbClr val="ff8000"/>
                </a:solidFill>
                <a:latin typeface="맑은 고딕"/>
              </a:rPr>
              <a:t>−30%</a:t>
            </a:r>
            <a:endParaRPr sz="2200" b="1">
              <a:solidFill>
                <a:srgbClr val="ff8000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8579" y="4846320"/>
            <a:ext cx="18745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8579" y="4846320"/>
            <a:ext cx="1874520" cy="45720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11827"/>
                </a:solidFill>
                <a:latin typeface="맑은 고딕"/>
              </a:rPr>
              <a:t>관련성 +45% · 토큰 −30%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8579" y="5440680"/>
            <a:ext cx="18745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LangChain · ChromaDB · FlashRank · Ragas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5707" y="1783080"/>
            <a:ext cx="22402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5707" y="1783080"/>
            <a:ext cx="224028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8587" y="1965960"/>
            <a:ext cx="18745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8587" y="2286000"/>
            <a:ext cx="1874520" cy="8229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약제 식별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8587" y="3154680"/>
            <a:ext cx="187452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조제 오류 방지를 위한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비전 검수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8587" y="4114800"/>
            <a:ext cx="1874519" cy="44615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sz="2200" b="1">
                <a:solidFill>
                  <a:srgbClr val="ff8000"/>
                </a:solidFill>
                <a:latin typeface="맑은 고딕"/>
              </a:rPr>
              <a:t>99.1%</a:t>
            </a:r>
            <a:endParaRPr sz="2200" b="1">
              <a:solidFill>
                <a:srgbClr val="ff8000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58587" y="4846320"/>
            <a:ext cx="18745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8587" y="4846320"/>
            <a:ext cx="1874520" cy="45720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11827"/>
                </a:solidFill>
                <a:latin typeface="맑은 고딕"/>
              </a:rPr>
              <a:t>750회 반복 실험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8587" y="5440680"/>
            <a:ext cx="18745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YOLOv11 · Optuna · Ensemble · OpenCV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5715" y="1783080"/>
            <a:ext cx="22402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25715" y="1783080"/>
            <a:ext cx="224028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08595" y="1965960"/>
            <a:ext cx="18745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8595" y="2286000"/>
            <a:ext cx="1874520" cy="8229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디스코드 커뮤니티 플랫폼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8595" y="3154680"/>
            <a:ext cx="187452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활성도 기반 랭킹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가상 재화 경제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8595" y="4114800"/>
            <a:ext cx="187452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8000"/>
                </a:solidFill>
                <a:latin typeface="맑은 고딕"/>
              </a:rPr>
              <a:t>₩490K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08595" y="4846320"/>
            <a:ext cx="18745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8595" y="4846320"/>
            <a:ext cx="1874520" cy="45720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11827"/>
                </a:solidFill>
                <a:latin typeface="맑은 고딕"/>
              </a:rPr>
              <a:t>100+ 서버 · DAU 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8595" y="5440680"/>
            <a:ext cx="18745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Next.js · FastAPI · Pycord · PG · Redis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5723" y="1783080"/>
            <a:ext cx="22402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75723" y="1783080"/>
            <a:ext cx="2240280" cy="7315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58603" y="1965960"/>
            <a:ext cx="18745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8603" y="2286000"/>
            <a:ext cx="1874520" cy="8229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실시간 번역 오버레이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8603" y="3154680"/>
            <a:ext cx="187452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외국어 콘텐츠 실시간 번역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저사양에서도 상시 구동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8603" y="4114800"/>
            <a:ext cx="187452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8000"/>
                </a:solidFill>
                <a:latin typeface="맑은 고딕"/>
              </a:rPr>
              <a:t>70%↓ / 0원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58603" y="4846320"/>
            <a:ext cx="18745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58603" y="4846320"/>
            <a:ext cx="1874520" cy="45720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11827"/>
                </a:solidFill>
                <a:latin typeface="맑은 고딕"/>
              </a:rPr>
              <a:t>OCR 70%↓ · 캐시로 비용 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58603" y="5440680"/>
            <a:ext cx="18745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PyQt6 · RapidOCR · ONNX Runtime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왼쪽 4개 = 효율(얼마나 줄였나)  ·  오른쪽 1개 = 실전성(얼마나 빨리 통했나)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3 /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지원 동기 — 왜 인터엑스인가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AI를 써서 무엇을 바꾸는가에 답이 있는 회사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155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28016" cy="14173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8000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93392"/>
            <a:ext cx="10058400" cy="36728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700" b="1">
                <a:solidFill>
                  <a:srgbClr val="111827"/>
                </a:solidFill>
                <a:latin typeface="맑은 고딕"/>
              </a:rPr>
              <a:t>글로벌 제조 AX 시장을 선도하는 기술 표준화</a:t>
            </a:r>
            <a:endParaRPr sz="1700" b="1">
              <a:solidFill>
                <a:srgbClr val="111827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10058400" cy="78524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374151"/>
                </a:solidFill>
                <a:latin typeface="맑은 고딕"/>
              </a:rPr>
              <a:t>인터엑스가 지향하는 글로벌 표준 기반의 제조 혁신 비전에 깊이 공감합니다. 개인 사업을 운영하며 서비스의</a:t>
            </a:r>
            <a:endParaRPr sz="1200" b="0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374151"/>
                </a:solidFill>
                <a:latin typeface="맑은 고딕"/>
              </a:rPr>
              <a:t>시장 확장성과 운영 효율을 고민했던 경험을 바탕으로, 인터엑스의 솔루션이 전 세계 제조 현장에</a:t>
            </a:r>
            <a:endParaRPr sz="1200" b="0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374151"/>
                </a:solidFill>
                <a:latin typeface="맑은 고딕"/>
              </a:rPr>
              <a:t>유연하게</a:t>
            </a:r>
            <a:r>
              <a:rPr lang="ko-KR" altLang="en-US" sz="1200" b="0">
                <a:solidFill>
                  <a:srgbClr val="374151"/>
                </a:solidFill>
                <a:latin typeface="맑은 고딕"/>
              </a:rPr>
              <a:t>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도입될 수 있도록</a:t>
            </a:r>
            <a:r>
              <a:rPr lang="ko-KR" altLang="en-US" sz="1200" b="0">
                <a:solidFill>
                  <a:srgbClr val="374151"/>
                </a:solidFill>
                <a:latin typeface="맑은 고딕"/>
              </a:rPr>
              <a:t>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확장성 높은 백엔드 아키텍처를 구축하고 싶습니다.</a:t>
            </a:r>
            <a:endParaRPr sz="1200" b="0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1155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28016" cy="14173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8000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47872"/>
            <a:ext cx="10058400" cy="36537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700" b="1">
                <a:solidFill>
                  <a:srgbClr val="111827"/>
                </a:solidFill>
                <a:latin typeface="맑은 고딕"/>
              </a:rPr>
              <a:t>제조 특화 생성형 AI 역량 강화</a:t>
            </a:r>
            <a:endParaRPr sz="1700" b="1">
              <a:solidFill>
                <a:srgbClr val="111827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3977640"/>
            <a:ext cx="10058400" cy="54521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374151"/>
                </a:solidFill>
                <a:latin typeface="맑은 고딕"/>
              </a:rPr>
              <a:t>인터엑스의 '</a:t>
            </a:r>
            <a:r>
              <a:rPr sz="1200" b="1">
                <a:solidFill>
                  <a:srgbClr val="374151"/>
                </a:solidFill>
                <a:latin typeface="맑은 고딕"/>
              </a:rPr>
              <a:t>제조 특화 생성형 AI'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는 복잡한 분석을 직관적 소통으로 바꾼 혁신 사례입니다. 그동안 쌓아온 LLM 및 RAG 관련 기술 역량을 투입하여, 현장 작업자가 전문가의 인사이트를 즉각적으로 얻을 수 있는 고도화된 인터페이스 개발에 기여하겠습니다.</a:t>
            </a:r>
            <a:endParaRPr sz="1200" b="0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155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28016" cy="14173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8000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02352"/>
            <a:ext cx="10058400" cy="36347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700" b="1">
                <a:solidFill>
                  <a:srgbClr val="111827"/>
                </a:solidFill>
                <a:latin typeface="맑은 고딕"/>
              </a:rPr>
              <a:t>자율 제조(EAX) 실현을 위한 데이터 최적화</a:t>
            </a:r>
            <a:endParaRPr sz="1700" b="1">
              <a:solidFill>
                <a:srgbClr val="111827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4480" y="5532120"/>
            <a:ext cx="10058400" cy="54330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00" b="0">
                <a:solidFill>
                  <a:srgbClr val="374151"/>
                </a:solidFill>
                <a:latin typeface="맑은 고딕"/>
              </a:rPr>
              <a:t>Python, SQL 기반의 데이터 관리 능력과 FastAPI, Streamlit을 활용한 효율적인 백엔드 구축 경험을 보유하고 있습니다. 이를 통해 인터엑스가 지향하는 지능형 제조 생태계의 핵심인 데이터 처리 효율성을 극대화하겠습니다.</a:t>
            </a:r>
            <a:endParaRPr sz="1200" b="0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4 /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12가치 매칭 + 입사 후 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12가치 중 4개에 먼저 기여하겠습니다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155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194560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끈기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20"/>
            <a:ext cx="8686800" cy="50520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약제 식별 프로젝트에서 750회 이상의 반복 실험과 정밀 튜닝을 거쳐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인식 정확도 99.1% 기록.</a:t>
            </a:r>
            <a:endParaRPr sz="1100" b="1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816352"/>
            <a:ext cx="11155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2194560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지속적개선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07792"/>
            <a:ext cx="8686800" cy="72923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RFP RAG에 FlashRank 리랭킹 도입으로 노이즈 제거 + 연관성 높은 컨텍스트 선별.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MobileNetv2 기반 RapidOCR을 ONNX로 최적화해 부하 최소화 및 추론 구현.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양자화·어텐션 최적화로 하드웨어 추론 성능 확보.</a:t>
            </a:r>
            <a:endParaRPr sz="1100" b="1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849624"/>
            <a:ext cx="11155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9624"/>
            <a:ext cx="2194560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9624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문제해결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41064"/>
            <a:ext cx="8686800" cy="72466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조제실 내 오투약 리스크를 줄이기 위한 약제 식별 시스템 구축.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외국어 게임/영상 시청 시 발생하는 정보 격차를 실시간 번역 오버레이로 해소.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클릭 간격 표준편차 기반 행동 패턴 알고리즘으로 매크로 방지 로직 적용.</a:t>
            </a:r>
            <a:endParaRPr sz="1100" b="1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882896"/>
            <a:ext cx="11155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2194560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82896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비판적사고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974336"/>
            <a:ext cx="8686800" cy="72961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단순 LLM 호출에서 벗어나 Hybrid Search + FlashRank 리랭킹으로</a:t>
            </a:r>
            <a:endParaRPr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토큰 낭비 절감과 신뢰도 확보. 운영비 절감을 위해 유료 API 대신</a:t>
            </a:r>
            <a:r>
              <a:rPr lang="ko-KR" altLang="en-US" sz="1100" b="1">
                <a:solidFill>
                  <a:srgbClr val="374151"/>
                </a:solidFill>
                <a:latin typeface="맑은 고딕"/>
              </a:rPr>
              <a:t> </a:t>
            </a:r>
            <a:r>
              <a:rPr sz="1100" b="1">
                <a:solidFill>
                  <a:srgbClr val="374151"/>
                </a:solidFill>
                <a:latin typeface="맑은 고딕"/>
              </a:rPr>
              <a:t>로컬 허깅페이스(SDXL) 모델 및 서빙 환경 구축.</a:t>
            </a:r>
            <a:r>
              <a:rPr lang="ko-KR" altLang="en-US" sz="1100" b="1">
                <a:solidFill>
                  <a:srgbClr val="374151"/>
                </a:solidFill>
                <a:latin typeface="맑은 고딕"/>
              </a:rPr>
              <a:t> </a:t>
            </a:r>
            <a:endParaRPr lang="ko-KR" altLang="en-US" sz="1100" b="1">
              <a:solidFill>
                <a:srgbClr val="374151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defRPr/>
            </a:pPr>
            <a:r>
              <a:rPr sz="1100" b="1">
                <a:solidFill>
                  <a:srgbClr val="374151"/>
                </a:solidFill>
                <a:latin typeface="맑은 고딕"/>
              </a:rPr>
              <a:t>YOLOv11과 Faster R-CNN을</a:t>
            </a:r>
            <a:r>
              <a:rPr lang="ko-KR" altLang="en-US" sz="1100" b="1">
                <a:solidFill>
                  <a:srgbClr val="374151"/>
                </a:solidFill>
                <a:latin typeface="맑은 고딕"/>
              </a:rPr>
              <a:t> </a:t>
            </a:r>
            <a:r>
              <a:rPr sz="1100" b="1">
                <a:solidFill>
                  <a:srgbClr val="374151"/>
                </a:solidFill>
                <a:latin typeface="맑은 고딕"/>
              </a:rPr>
              <a:t>비교하고 Optuna로 하이퍼파라미터 최적화 수행.</a:t>
            </a:r>
            <a:endParaRPr sz="1100" b="1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포부 — 회귀 테스트 · 비용 계측 · 자가 검증 루프로 네 가치를 코드 레이어에 박아 넣겠습니다.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5 /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과제 오버뷰 — InterX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FastAPI · LangGraph · Next.js 풀스택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852160" cy="42062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83080"/>
            <a:ext cx="507492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데이터 흐름 (9단계)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240280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240280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240280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① 이력서/포트폴리오 업로드 (PDF·JPG·PNG)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633472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633472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633472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② Claude Vision OCR — 읽기 순서 강제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3026664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3026664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026664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③ 구조화 추출 (6필드 JSON)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3419856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3419856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419856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④ 12가치 매핑 (score·evidence·examples)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813048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3813048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813048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⑤ 자가검증 루프 (substring · token-overlap)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4206240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4206240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206240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⑥ 문서 신뢰도 산출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4599432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4599432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599432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⑦ 모순 탐지 (4축 · severity)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992624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992624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992624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⑧ 사전 압박 질문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385816"/>
            <a:ext cx="5074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5385816"/>
            <a:ext cx="91440" cy="347472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5385816"/>
            <a:ext cx="4800600" cy="347472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11827"/>
                </a:solidFill>
                <a:latin typeface="맑은 고딕"/>
              </a:rPr>
              <a:t>⑨ 실시간 면접 (꼬리질문) → PDF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asyncio.Queue 단일 워커로 LLM 호출 직렬화  ·  모든 호출은 usage_scope로 phase/step 자동 태깅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6 / 19</a:t>
            </a:r>
          </a:p>
        </p:txBody>
      </p:sp>
      <p:pic>
        <p:nvPicPr>
          <p:cNvPr id="3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6975" y="2399876"/>
            <a:ext cx="5675490" cy="2972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1. 데이터 파이프라인  ·  [수행]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비정형 PDF/이미지 → 구조화 JSON → 12가치 매핑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파이프라인 4단계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1343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01 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Claude Vision 기반.  "위→아래, 좌→우, 2-컬럼 블록 유지"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읽기 순서를 프롬프트로 강제.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09728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02  익명화 (PII-safe)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이메일·전화번호를 토큰 치환.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분석 후 복원 — 프롬프트 오염 차단.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09728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03  구조화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6필드 JSON: career / education / skills /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achievements / certifications / projects.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924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109728" cy="9601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6811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04  12가치 매핑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가치별 score(0–100) · evidence(1–2문장) ·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examples(원문 인용 배열) 생성.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83080"/>
            <a:ext cx="53492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프롬프트 엔지니어링 디테일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94560"/>
            <a:ext cx="5349240" cy="41605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77440"/>
            <a:ext cx="4892040" cy="3840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부정 예시 명시 — "열정적입니다", "책임감이 강합니다"
     같은 추상적 자기서술은 증거로 인정하지 않음.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80점 하한 임계선 — 충분한 구체적 증거(수치·프로젝트·결과)가
     반복 관찰될 때만 80↑ (100점까지 열려 있음).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거절 기본값 — 증거가 없는 가치는 0–30 부여하고
     examples는 빈 배열.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374151"/>
                </a:solidFill>
                <a:latin typeface="맑은 고딕"/>
              </a:rPr>
              <a:t>원문 인용 강제 — examples는 이력서의 구체 문장을
     원문 그대로 1–3개 인용.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1. 데이터 파이프라인  ·  [결과]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구조화 데이터셋 + 12가치 점수 + 원문 증거가 한 객체로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결과물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035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91440" cy="9144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DB 스키마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66928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Analysis.structured_data (6필드 JSON)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Analysis.values_scores (12가치별 점수+근거)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18688"/>
            <a:ext cx="6035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18688"/>
            <a:ext cx="91440" cy="9144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28416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566928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GET /api/candidates/{id}/analysis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GET /api/candidates/{id}/debug/raw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6035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42816"/>
            <a:ext cx="91440" cy="9144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맑은 고딕"/>
              </a:rPr>
              <a:t>프론트 컴포넌트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566928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ValueRadarChart · ValueList · EvidencePanel · RawDataViewer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9240"/>
            <a:ext cx="6035040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22392"/>
            <a:ext cx="566928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values_scores.지속적개선 = {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  "score": 88,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  "examples": ["ONNX 가속으로 추론 70% 단축", ...]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783080"/>
            <a:ext cx="4983480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6373368"/>
            <a:ext cx="498348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리포트 화면 — 12가치 레이더 + 원문 증거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8 / 19</a:t>
            </a:r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38291" y="1922526"/>
            <a:ext cx="3640018" cy="4293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2. 모순 탐지 + 꼬리질문  ·  [수행]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LangGraph 두 개 — 사전 분석 그래프 + 실시간 면접 그래프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000"/>
                </a:solidFill>
                <a:latin typeface="맑은 고딕"/>
              </a:rPr>
              <a:t>체인 ①  분석 그래프 (사전, analysis_graph.py)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parse_documents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anonymize_pii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5808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extract_structured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score_12_values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2976" y="2194560"/>
            <a:ext cx="1207008" cy="5029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self_verify_evidence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doc_reliability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2194560"/>
            <a:ext cx="1207008" cy="50292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detect_contradictions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preemptive_questions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97312" y="2194560"/>
            <a:ext cx="120700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7312" y="2194560"/>
            <a:ext cx="1207008" cy="50292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compile_restore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모순 탐지 4축: 날짜/기간 · 직책/역할 · 성과 수치 · 기술 스택  ·  severity high/medium/low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사전 압박 질문: 모순 1건당 1문항+ · 40점 미만 가치 드릴다운 · 개방형 질문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000"/>
                </a:solidFill>
                <a:latin typeface="맑은 고딕"/>
              </a:rPr>
              <a:t>체인 ②  면접 그래프 (실시간, interview_graph.py)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69080"/>
            <a:ext cx="2697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269748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prepare_context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4069080"/>
            <a:ext cx="2697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4069080"/>
            <a:ext cx="269748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analyze_answer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9904" y="4069080"/>
            <a:ext cx="2697480" cy="54864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4069080"/>
            <a:ext cx="269748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generate_followups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0536" y="4069080"/>
            <a:ext cx="2697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0536" y="4069080"/>
            <a:ext cx="269748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rank_and_filter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46320"/>
            <a:ext cx="548640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question_source 분기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0352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pregenerated / custom / followup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→ 꼬리질문의 꼬리질문도 생략하지 않도록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   프롬프트에 출처를 강제 주입.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846320"/>
            <a:ext cx="548640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9377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asyncio.Queue 단일 워커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30352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services/followup_worker.py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→ 동시 답변 제출에도 LLM 호출이 직렬화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   순서 꼬임·중복 차단.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2. 모순 탐지 + 꼬리질문  ·  [결과]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시나리오별 입력 → 실제 질문 샘플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703320" cy="26060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모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32" y="1828800"/>
            <a:ext cx="2896936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07408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모순 리스트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783080"/>
            <a:ext cx="3703320" cy="26060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사전압박질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347" y="1828800"/>
            <a:ext cx="2994002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4407408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사전 압박 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783080"/>
            <a:ext cx="3703320" cy="26060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면접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106783"/>
            <a:ext cx="3611880" cy="19586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4736" y="4407408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실시간 면접 + 꼬리질문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질문 샘플 — 모든 질문에 basis (근거) · target_value (연결 가치) 필드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789920" cy="11887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374151"/>
                </a:solidFill>
                <a:latin typeface="맑은 고딕"/>
              </a:rPr>
              <a:t>"이력서에는 99.1% 정확도를 750회 실험으로 달성했다고 되어 있는데, 실험 1회당 평균 학습 시간과 GPU 사양을 알려주실 수 있나요?"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374151"/>
                </a:solidFill>
                <a:latin typeface="맑은 고딕"/>
              </a:rPr>
              <a:t>"ONNX 가속으로 70% 단축이라 적혀 있는데, 단축 측정의 baseline이 무엇이고 어떤 디바이스에서 측정했나요?"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374151"/>
                </a:solidFill>
                <a:latin typeface="맑은 고딕"/>
              </a:rPr>
              <a:t>"답변에 "팀 전체가 같이 했다"가 등장 → 자동 꼬리질문: "본인이 단독 의사결정한 지점은 어디였나요?""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11827"/>
                </a:solidFill>
                <a:latin typeface="맑은 고딕"/>
              </a:rPr>
              <a:t>모순 탐지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155680" cy="50749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모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551" y="1325880"/>
            <a:ext cx="5635858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11827"/>
                </a:solidFill>
                <a:latin typeface="맑은 고딕"/>
              </a:rPr>
              <a:t>사전 압박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155680" cy="50749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사전압박질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32" y="1325880"/>
            <a:ext cx="582469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11827"/>
                </a:solidFill>
                <a:latin typeface="맑은 고딕"/>
              </a:rPr>
              <a:t>실시간 면접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155680" cy="50749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면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21" y="1325880"/>
            <a:ext cx="9021317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3. AX 대시보드  ·  [수행]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후보자 등록 → 분석 → 리포트 → 면접 → 합격 결정까지 한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0584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05840" cy="82296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67712"/>
            <a:ext cx="3749040" cy="676656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FastAPI (port 8102)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라우터 분리: auth · candidates · documents · analysis · interview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90672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90672"/>
            <a:ext cx="100584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1005840" cy="82296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프론트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63824"/>
            <a:ext cx="3749040" cy="676656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Next.js 14 App Router · TypeScript · Tailwind (port 3102)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86784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0584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4"/>
            <a:ext cx="1005840" cy="82296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저장소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59936"/>
            <a:ext cx="3749040" cy="676656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SQLite + SQLAlchemy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100584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82896"/>
            <a:ext cx="1005840" cy="82296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956048"/>
            <a:ext cx="3749040" cy="676656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reportlab 서버사이드 · 한글 폰트(Malgun Gothic) 자동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5029200" cy="64008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24728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안정성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53328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맑은 고딕"/>
              </a:rPr>
              <a:t>call_claude_json 2회 재시도 · current_step 기반 재개 · API_SLEEP_SECONDS=0.5s로 rate limit 완충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78308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핵심 컴포넌트 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194560"/>
            <a:ext cx="5943600" cy="42062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331720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ValueRadarChart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31720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12가치 레이더 시각화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807208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ValueList + EvidencePanel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07208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가치 클릭 → 원문 증거 슬라이드아웃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282696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ContradictionList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82696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모순 4축 + 심각도 색상 강조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758184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PreemptiveQuestions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58184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근거(basis)·연결 가치 함께 노출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233672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StatusSelector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33672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9단 상태(미분석~최종합격) 즉시 변경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709160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ProgressBar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09160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단계별 진행 + 예상 잔여 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184648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RawDataViewer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84648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OCR 원문 ↔ 구조화 JSON 탭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660136"/>
            <a:ext cx="228600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11827"/>
                </a:solidFill>
                <a:latin typeface="맑은 고딕"/>
              </a:rPr>
              <a:t>•  면접관 메모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660136"/>
            <a:ext cx="3108960" cy="47548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리포트 상단 1클릭 · 후보자 비노출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미션 3. AX 대시보드  ·  [결과]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동작하는 웹 프로토타입 — 5분 시연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8531352" cy="40233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30171" y="2103120"/>
            <a:ext cx="8531352" cy="4023360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sz="3600" b="1">
                <a:solidFill>
                  <a:srgbClr val="6b7280"/>
                </a:solidFill>
                <a:latin typeface="맑은 고딕"/>
                <a:hlinkClick r:id="rId2" tooltip="https://youtu.be/npxinUQz4ZM"/>
              </a:rPr>
              <a:t>▶  시연 영상</a:t>
            </a:r>
            <a:endParaRPr sz="3600" b="1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15 /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엔지니어링 고민 ①  할루시네이션 자가검증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"근거가 원문에 존재하는가"를 기계가 스스로 확인하게 만들었습니다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15544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0" cy="9601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LLM이 examples 필드에 원문에 없는 문장을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만들어 넣는 환각.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→ 면접관이 리포트를 신뢰할 수 없는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   치명적 실패 모드.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검증 루프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2331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2331720" cy="41148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score_12_values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3977640"/>
            <a:ext cx="2331720" cy="41148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977640"/>
            <a:ext cx="2331720" cy="41148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self_verify_evidence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53712"/>
            <a:ext cx="2331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2"/>
            <a:ext cx="2331720" cy="41148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regenerate (필요 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553712"/>
            <a:ext cx="2331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4553712"/>
            <a:ext cx="2331720" cy="41148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맑은 고딕"/>
              </a:rPr>
              <a:t>doc_reliability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78308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4층 방어선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2194560"/>
            <a:ext cx="5943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28600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01  프롬프트 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606040"/>
            <a:ext cx="5577840" cy="521208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추상적 자기서술 불인정 · 원문 문장 그대로 인용 강제.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246120"/>
            <a:ext cx="5943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33756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02  근거 필드 강제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657600"/>
            <a:ext cx="5577840" cy="521208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evidence · examples · basis · reasoning 전부 스키마 필수.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4297680"/>
            <a:ext cx="5943600" cy="978408"/>
          </a:xfrm>
          <a:prstGeom prst="rect">
            <a:avLst/>
          </a:prstGeom>
          <a:solidFill>
            <a:srgbClr val="F3F4F6"/>
          </a:solidFill>
          <a:ln w="1587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3891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03  자가 점증 검증 루프 (핵심)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709160"/>
            <a:ext cx="5577840" cy="521208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substring + token-overlap ≥ 0.6 · 점수 40↑ &amp; 검증 비율 &lt; 50% →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해당 가치만 1회 재호출해 인용 교체. verification 필드로 DB 영속화.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5349240"/>
            <a:ext cx="5943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54406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04  사람 검증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760720"/>
            <a:ext cx="5577840" cy="521208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RawDataViewer — OCR 원문 ↔ 구조화 JSON 나란히 비교.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엔지니어링 고민 ②  토큰·비용 실측 + Claude Code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대략치 메모가 아니라 DB에 남는 수치로 비용을 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비용 계측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85216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token_usage 테이블 · contextvars 자동 태깅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candidate_id · phase · step · model · input/output tokens · cost_usd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usage_scope(candidate_id, phase, step) 컨텍스트로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LangGraph 노드 · OCR · Vision 호출이 자동 태깅되어 DB 기록.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93592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8000"/>
                </a:solidFill>
                <a:latin typeface="맑은 고딕"/>
              </a:rPr>
              <a:t>실측 — step별 누적 비용 (USD, N=3 분석)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3886200"/>
          <a:ext cx="585216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583680" y="1783080"/>
            <a:ext cx="5166360" cy="201168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실측 요약 (N=3 분석, claude-sonnet-4-6)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31720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$0.38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26080"/>
            <a:ext cx="470916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분석 1회 평균 · 분석 단계 누적 $1.14 / 19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46120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면접(8 호출) $0.19  ·  꼬리질문 1회 $0.03–0.05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886200"/>
            <a:ext cx="51663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023360"/>
            <a:ext cx="4709160" cy="29946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300" b="1">
                <a:solidFill>
                  <a:srgbClr val="ff8000"/>
                </a:solidFill>
                <a:latin typeface="맑은 고딕"/>
              </a:rPr>
              <a:t>최신 AI 도구 활용 — Claude Code</a:t>
            </a:r>
            <a:r>
              <a:rPr lang="ko-KR" altLang="en-US" sz="1300" b="1">
                <a:solidFill>
                  <a:srgbClr val="ff8000"/>
                </a:solidFill>
                <a:latin typeface="맑은 고딕"/>
              </a:rPr>
              <a:t> </a:t>
            </a:r>
            <a:r>
              <a:rPr lang="en-US" altLang="ko-KR" sz="1300" b="1">
                <a:solidFill>
                  <a:srgbClr val="ff8000"/>
                </a:solidFill>
                <a:latin typeface="맑은 고딕"/>
              </a:rPr>
              <a:t>Cli</a:t>
            </a:r>
            <a:endParaRPr lang="en-US" altLang="ko-KR" sz="1300" b="1">
              <a:solidFill>
                <a:srgbClr val="ff8000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4389120"/>
            <a:ext cx="4709160" cy="26708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000" b="0">
                <a:solidFill>
                  <a:srgbClr val="374151"/>
                </a:solidFill>
                <a:latin typeface="맑은 고딕"/>
              </a:rPr>
              <a:t>claude-opus-4-7 을 프로그래밍 모델로 사용</a:t>
            </a:r>
            <a:endParaRPr sz="1000" b="0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12280" y="4846320"/>
            <a:ext cx="4709160" cy="11887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000" b="0">
                <a:solidFill>
                  <a:srgbClr val="374151"/>
                </a:solidFill>
                <a:latin typeface="맑은 고딕"/>
              </a:rPr>
              <a:t>LangGraph 노드 분리 설계 검토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000" b="0">
                <a:solidFill>
                  <a:srgbClr val="374151"/>
                </a:solidFill>
                <a:latin typeface="맑은 고딕"/>
              </a:rPr>
              <a:t>자가검증 루프 임계값(token-overlap 0.6) 결정 토론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000" b="0">
                <a:solidFill>
                  <a:srgbClr val="374151"/>
                </a:solidFill>
                <a:latin typeface="맑은 고딕"/>
              </a:rPr>
              <a:t>reportlab 한글 폰트 등록 트러블슈팅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FF8000"/>
                </a:solidFill>
                <a:latin typeface="맑은 고딕"/>
              </a:rPr>
              <a:t>•  </a:t>
            </a:r>
            <a:r>
              <a:rPr sz="1000" b="0">
                <a:solidFill>
                  <a:srgbClr val="374151"/>
                </a:solidFill>
                <a:latin typeface="맑은 고딕"/>
              </a:rPr>
              <a:t>본 발표 자료(스크립트·차트 명세) 초안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17 /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맑은 고딕"/>
              </a:rPr>
              <a:t>솔직히 못 한 부분 및 개선하고 싶은 부분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보강해야 할 4가지 — 어떤 순서로 풀 것인지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14400" cy="36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미흡 항목과 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09728" cy="100584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①  프롬프트 회귀 테스트 부재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60350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고정 픽스처 × 계약 검증을 pytest 스위트로 만들지 못함. MVP 우선순위에서 밀림.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82112"/>
            <a:ext cx="6400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109728" cy="100584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00984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②  Prompt Cache 미적용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60350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시스템 프롬프트·12가치 정의를 Anthropic prompt cache로 고정 못함. 토큰 절감 여지.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61104"/>
            <a:ext cx="6400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61104"/>
            <a:ext cx="109728" cy="100584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③  다중 평가자 협업·권한 모델 미구현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8304"/>
            <a:ext cx="60350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단일 사용자 시나리오에 집중. 평가자별 권한·교차 평가·합산 합격 흐름 미구현.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0096"/>
            <a:ext cx="6400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340096"/>
            <a:ext cx="109728" cy="100584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58968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④  LLM 평가 자동화(Eval) 부재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6035040" cy="5029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74151"/>
                </a:solidFill>
                <a:latin typeface="맑은 고딕"/>
              </a:rPr>
              <a:t>Ragas/LangSmith 같은 도구로 모순·꼬리질문 품질을 정량화 못함. 사람 검수에 의존.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6916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000"/>
                </a:solidFill>
                <a:latin typeface="맑은 고딕"/>
              </a:rPr>
              <a:t>개선하고 싶은 부분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103120"/>
            <a:ext cx="4572000" cy="13716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212848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개선사항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560320"/>
            <a:ext cx="411480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①  해소.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고정 이력서 픽스처 5종 × 계약 검증 pytest 스위트 + CI.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566160"/>
            <a:ext cx="4572000" cy="13716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75888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개선사항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023360"/>
            <a:ext cx="411480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②  해소.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Prompt cache를 시스템·12가치·OCR 지침에 적용 →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토큰 비용 약 30% 추가 절감.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5029200"/>
            <a:ext cx="4572000" cy="13716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5138928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개선사항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486400"/>
            <a:ext cx="4114800" cy="8686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④  첫 걸음.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모순·꼬리질문 회귀용 골든 데이터셋 30건 +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자동 평가 파이프라인 초안.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무엇을 못 했는지 알고 있다는 것 + 어떤 순서로 풀 것인지가 정해져 있다는 것.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주재홍 · InterX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548640"/>
            <a:ext cx="1280160" cy="1280160"/>
          </a:xfrm>
          <a:prstGeom prst="rect">
            <a:avLst/>
          </a:prstGeom>
          <a:solidFill>
            <a:srgbClr val="FF8000"/>
          </a:solidFill>
          <a:ln w="9525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한 줄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827"/>
                </a:solidFill>
                <a:latin typeface="맑은 고딕"/>
              </a:rPr>
              <a:t>돌아가는 AI가 아니라,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8000"/>
                </a:solidFill>
                <a:latin typeface="맑은 고딕"/>
              </a:rPr>
              <a:t>분기마다 더 싸지고 더 정확해지는 AI를 만들겠습니다.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맑은 고딕"/>
              </a:rPr>
              <a:t>·  0.1%의 효율을 측정 가능한 인프라 위에서 쌓아가겠습니다.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31851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400" b="0">
                <a:solidFill>
                  <a:srgbClr val="374151"/>
                </a:solidFill>
                <a:latin typeface="맑은 고딕"/>
              </a:rPr>
              <a:t>·  인터엑스의 12</a:t>
            </a:r>
            <a:r>
              <a:rPr lang="ko-KR" altLang="en-US" sz="1400" b="0">
                <a:solidFill>
                  <a:srgbClr val="374151"/>
                </a:solidFill>
                <a:latin typeface="맑은 고딕"/>
              </a:rPr>
              <a:t>가지 </a:t>
            </a:r>
            <a:r>
              <a:rPr sz="1400" b="0">
                <a:solidFill>
                  <a:srgbClr val="374151"/>
                </a:solidFill>
                <a:latin typeface="맑은 고딕"/>
              </a:rPr>
              <a:t>가치를 회귀 테스트·비용 계측·자가 검증 루프로 옮기겠습니다.</a:t>
            </a:r>
            <a:endParaRPr sz="1400" b="0">
              <a:solidFill>
                <a:srgbClr val="374151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5669280"/>
            <a:ext cx="10515600" cy="18000"/>
          </a:xfrm>
          <a:prstGeom prst="rect">
            <a:avLst/>
          </a:prstGeom>
          <a:solidFill>
            <a:srgbClr val="E5E7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6400800" cy="34709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600" b="1">
                <a:solidFill>
                  <a:srgbClr val="111827"/>
                </a:solidFill>
                <a:latin typeface="맑은 고딕"/>
              </a:rPr>
              <a:t>감사합니다.</a:t>
            </a:r>
            <a:endParaRPr sz="1600" b="1">
              <a:solidFill>
                <a:srgbClr val="111827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주재홍   ·   kinduki123@gmail.com   ·   github.com/flyingjoojak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1613</ep:Words>
  <ep:PresentationFormat>On-screen Show (4:3)</ep:PresentationFormat>
  <ep:Paragraphs>474</ep:Paragraphs>
  <ep:Slides>19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main</cp:lastModifiedBy>
  <dcterms:modified xsi:type="dcterms:W3CDTF">2026-04-24T06:21:04.153</dcterms:modified>
  <cp:revision>20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